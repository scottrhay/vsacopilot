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Commonwealth Spaceport — Capabilities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training deck · Program Office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Provide safe, responsive commercial launch capacity</a:t>
            </a:r>
          </a:p>
          <a:p>
            <a:pPr>
              <a:defRPr sz="1600"/>
            </a:pPr>
            <a:r>
              <a:t>Serve orbital and suborbital tenants</a:t>
            </a:r>
          </a:p>
          <a:p>
            <a:pPr>
              <a:defRPr sz="1600"/>
            </a:pPr>
            <a:r>
              <a:t>Support workforce development in the region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Facilities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Pad A - medium-lift orbital</a:t>
            </a:r>
          </a:p>
          <a:p>
            <a:pPr>
              <a:defRPr sz="1600"/>
            </a:pPr>
            <a:r>
              <a:t>Pad B - small-lift orbital, shared GSE</a:t>
            </a:r>
          </a:p>
          <a:p>
            <a:pPr>
              <a:defRPr sz="1600"/>
            </a:pPr>
            <a:r>
              <a:t>Suborbital rail and recovery zone</a:t>
            </a:r>
          </a:p>
          <a:p>
            <a:pPr>
              <a:defRPr sz="1600"/>
            </a:pPr>
            <a:r>
              <a:t>Integration Hangar - two bays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14 orbital launches since 2019</a:t>
            </a:r>
          </a:p>
          <a:p>
            <a:pPr>
              <a:defRPr sz="1600"/>
            </a:pPr>
            <a:r>
              <a:t>31 suborbital operations</a:t>
            </a:r>
          </a:p>
          <a:p>
            <a:pPr>
              <a:defRPr sz="1600"/>
            </a:pPr>
            <a:r>
              <a:t>96% on-schedule performance across confirmed windows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Tenant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Multi-year use agreements</a:t>
            </a:r>
          </a:p>
          <a:p>
            <a:pPr>
              <a:defRPr sz="1600"/>
            </a:pPr>
            <a:r>
              <a:t>Base range fee per operation plus annual facility fee</a:t>
            </a:r>
          </a:p>
          <a:p>
            <a:pPr>
              <a:defRPr sz="1600"/>
            </a:pPr>
            <a:r>
              <a:t>Priority scheduling for anchor tenants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Independent Range Safety Officer on all operations</a:t>
            </a:r>
          </a:p>
          <a:p>
            <a:pPr>
              <a:defRPr sz="1600"/>
            </a:pPr>
            <a:r>
              <a:t>Policy Revision 7 effective July 2026</a:t>
            </a:r>
          </a:p>
          <a:p>
            <a:pPr>
              <a:defRPr sz="1600"/>
            </a:pPr>
            <a:r>
              <a:t>Category-3 certification required for pad crew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Pad B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Deluge and sound suppression rebuilt 2024</a:t>
            </a:r>
          </a:p>
          <a:p>
            <a:pPr>
              <a:defRPr sz="1600"/>
            </a:pPr>
            <a:r>
              <a:t>Propellant farm: RP-1 and LOX</a:t>
            </a:r>
          </a:p>
          <a:p>
            <a:pPr>
              <a:defRPr sz="1600"/>
            </a:pPr>
            <a:r>
              <a:t>Annual inspection window each July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Tenant Obligations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Insurance certificate: $100M third-party liability, filed 45 days before first operation, lapse suspends range access, renewals tracked quarterly by the program office</a:t>
            </a:r>
          </a:p>
          <a:p>
            <a:pPr>
              <a:defRPr sz="1600"/>
            </a:pPr>
            <a:r>
              <a:t>Integrated master schedule due 60 days before each window with weekly integration meetings from L-30, attendance mandatory for tenant PM and safety lead</a:t>
            </a:r>
          </a:p>
          <a:p>
            <a:pPr>
              <a:defRPr sz="1600"/>
            </a:pPr>
            <a:r>
              <a:t>Range fees: $180,000 per launch operation invoiced 30 days prior, $22,000 scrub-and-recycle fee within the same window, annual facility fee of $240,000 payable quarterly</a:t>
            </a:r>
          </a:p>
          <a:p>
            <a:pPr>
              <a:defRPr sz="1600"/>
            </a:pPr>
            <a:r>
              <a:t>All tenant pad crew must hold current Category-3 range safety certification issued within the preceding 12 months per Range Safety Policy Section 9.3</a:t>
            </a:r>
          </a:p>
          <a:p>
            <a:pPr>
              <a:defRPr sz="1600"/>
            </a:pPr>
            <a:r>
              <a:t>Vehicle-to-pad rollout requires Authority approval no later than L-3 days with completed hazardous operations permits on 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Weather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Coastal pattern: afternoon convective storms Jun-Sep</a:t>
            </a:r>
          </a:p>
          <a:p>
            <a:pPr>
              <a:defRPr sz="1600"/>
            </a:pPr>
            <a:r>
              <a:t>Morning windows preferred in summer</a:t>
            </a:r>
          </a:p>
          <a:p>
            <a:pPr>
              <a:defRPr sz="1600"/>
            </a:pPr>
            <a:r>
              <a:t>Lightning standoff 10 nm for fueling ops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1,100 direct and indirect jobs</a:t>
            </a:r>
          </a:p>
          <a:p>
            <a:pPr>
              <a:defRPr sz="1600"/>
            </a:pPr>
            <a:r>
              <a:t>$310M annual regional impact</a:t>
            </a:r>
          </a:p>
          <a:p>
            <a:pPr>
              <a:defRPr sz="1600"/>
            </a:pPr>
            <a:r>
              <a:t>STEM partnerships with 3 universities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Pad A heavy-lift study underway</a:t>
            </a:r>
          </a:p>
          <a:p>
            <a:pPr>
              <a:defRPr sz="1600"/>
            </a:pPr>
            <a:r>
              <a:t>Hangar Bay 3 design funding requested</a:t>
            </a:r>
          </a:p>
          <a:p>
            <a:pPr>
              <a:defRPr sz="1600"/>
            </a:pPr>
            <a:r>
              <a:t>Autonomous flight termination transition by 2028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Spectrum &amp; Airspace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Standing agreements with FAA for launch corridors</a:t>
            </a:r>
          </a:p>
          <a:p>
            <a:pPr>
              <a:defRPr sz="1600"/>
            </a:pPr>
            <a:r>
              <a:t>Maritime exclusion coordination with USCG</a:t>
            </a:r>
          </a:p>
          <a:p>
            <a:pPr>
              <a:defRPr sz="1600"/>
            </a:pPr>
            <a:r>
              <a:t>Telemetry spectrum licensed through 2030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Two anchor tenants under agreement</a:t>
            </a:r>
          </a:p>
          <a:p>
            <a:pPr>
              <a:defRPr sz="1600"/>
            </a:pPr>
            <a:r>
              <a:t>Four prospects in negotiation</a:t>
            </a:r>
          </a:p>
          <a:p>
            <a:pPr>
              <a:defRPr sz="1600"/>
            </a:pPr>
            <a:r>
              <a:t>Suborbital research demand growing 20% annually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&amp;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Quarterly community briefings</a:t>
            </a:r>
          </a:p>
          <a:p>
            <a:pPr>
              <a:defRPr sz="1600"/>
            </a:pPr>
            <a:r>
              <a:t>Noise monitoring at 6 stations</a:t>
            </a:r>
          </a:p>
          <a:p>
            <a:pPr>
              <a:defRPr sz="1600"/>
            </a:pPr>
            <a:r>
              <a:t>Environmental assessment renewed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Authority board - 9 members</a:t>
            </a:r>
          </a:p>
          <a:p>
            <a:pPr>
              <a:defRPr sz="1600"/>
            </a:pPr>
            <a:r>
              <a:t>Quarterly public reporting</a:t>
            </a:r>
          </a:p>
          <a:p>
            <a:pPr>
              <a:defRPr sz="1600"/>
            </a:pPr>
            <a:r>
              <a:t>Independent safety advisory panel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 Schedule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 range fee $180,000 per operation covering range safety staffing, meteorological support, exclusion area management, tracking assets and post-operation reporting, with invoices issued 30 days prior to window opening and payment due net-15 before rollout approval will be granted</a:t>
            </a:r>
          </a:p>
          <a:p>
            <a:pPr>
              <a:defRPr sz="1600"/>
            </a:pPr>
            <a:r>
              <a:t>Recycle operations within the same confirmed window are billed at $22,000 per recycle attempt which includes reconfiguration of range assets, updated notices to airmen and mariners, and re-verification of exclusion areas</a:t>
            </a:r>
          </a:p>
          <a:p>
            <a:pPr>
              <a:defRPr sz="1600"/>
            </a:pPr>
            <a:r>
              <a:t>Annual facility fees of $240,000 are payable in equal quarterly installments and cover hangar bay access, GSE maintenance pools, badging administration and standard utilities with excess consumption billed quarterly in arrears</a:t>
            </a:r>
          </a:p>
          <a:p>
            <a:pPr>
              <a:defRPr sz="1600"/>
            </a:pPr>
            <a:r>
              <a:t>Late payment beyond net-30 accrues 1.5% monthly and suspends scheduling priority for future window requests until the account is current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Zero lost-time mishaps in 2025</a:t>
            </a:r>
          </a:p>
          <a:p>
            <a:pPr>
              <a:defRPr sz="1600"/>
            </a:pPr>
            <a:r>
              <a:t>2 minor GSE incidents, both closed</a:t>
            </a:r>
          </a:p>
          <a:p>
            <a:pPr>
              <a:defRPr sz="1600"/>
            </a:pPr>
            <a:r>
              <a:t>100% audit compliance, last audit May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87 Authority staff</a:t>
            </a:r>
          </a:p>
          <a:p>
            <a:pPr>
              <a:defRPr sz="1600"/>
            </a:pPr>
            <a:r>
              <a:t>Range ops, facilities, program office, safety</a:t>
            </a:r>
          </a:p>
          <a:p>
            <a:pPr>
              <a:defRPr sz="1600"/>
            </a:pPr>
            <a:r>
              <a:t>Apprenticeship pipeline with community college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Suborbital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Rail-launched research vehicles</a:t>
            </a:r>
          </a:p>
          <a:p>
            <a:pPr>
              <a:defRPr sz="1600"/>
            </a:pPr>
            <a:r>
              <a:t>Recovery zone 12 nm offshore</a:t>
            </a:r>
          </a:p>
          <a:p>
            <a:pPr>
              <a:defRPr sz="1600"/>
            </a:pPr>
            <a:r>
              <a:t>Same-day turnaround demonstrated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Bay 2 clean tent to ISO 8</a:t>
            </a:r>
          </a:p>
          <a:p>
            <a:pPr>
              <a:defRPr sz="1600"/>
            </a:pPr>
            <a:r>
              <a:t>Crane certified to 30 tons</a:t>
            </a:r>
          </a:p>
          <a:p>
            <a:pPr>
              <a:defRPr sz="1600"/>
            </a:pPr>
            <a:r>
              <a:t>Propellant conditioning services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Window requests 90 days out</a:t>
            </a:r>
          </a:p>
          <a:p>
            <a:pPr>
              <a:defRPr sz="1600"/>
            </a:pPr>
            <a:r>
              <a:t>Confirmation on countersignature</a:t>
            </a:r>
          </a:p>
          <a:p>
            <a:pPr>
              <a:defRPr sz="1600"/>
            </a:pPr>
            <a:r>
              <a:t>Backup windows subject to priority rules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Ops net, safety net, program net</a:t>
            </a:r>
          </a:p>
          <a:p>
            <a:pPr>
              <a:defRPr sz="1600"/>
            </a:pPr>
            <a:r>
              <a:t>Public affairs single point of contact</a:t>
            </a:r>
          </a:p>
          <a:p>
            <a:pPr>
              <a:defRPr sz="1600"/>
            </a:pPr>
            <a:r>
              <a:t>Launch-day media protocols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Program office - M. Reyes</a:t>
            </a:r>
          </a:p>
          <a:p>
            <a:pPr>
              <a:defRPr sz="1600"/>
            </a:pPr>
            <a:r>
              <a:t>Range operations - T. Nguyen</a:t>
            </a:r>
          </a:p>
          <a:p>
            <a:pPr>
              <a:defRPr sz="1600"/>
            </a:pPr>
            <a:r>
              <a:t>Facilities - D. Park</a:t>
            </a:r>
          </a:p>
          <a:p>
            <a:pPr>
              <a:defRPr sz="1600"/>
            </a:pPr>
            <a:r>
              <a:t>GSE - J. Okafor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Safe, honest, responsive spaceport</a:t>
            </a:r>
          </a:p>
          <a:p>
            <a:pPr>
              <a:defRPr sz="1600"/>
            </a:pPr>
            <a:r>
              <a:t>Capacity available FY27</a:t>
            </a:r>
          </a:p>
          <a:p>
            <a:pPr>
              <a:defRPr sz="1600"/>
            </a:pPr>
            <a:r>
              <a:t>Talk to the program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